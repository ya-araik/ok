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Попросить студентов перечислить недостающие факты: запуск, сообщение, входные данные, ожидаемый и фактический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Задать вопрос и выдержать паузу. Ответ 900 рублей на этом слайде отсутствует. После ответа перейти к следующему слайду.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 после ответа студентов. Подтвердить итог 900 рублей и зафиксировать его как эталон.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Эта карта помогает выбрать место первого поиска. Она не утверждает причину заранее.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спросить о наблюдаемом факте. Термин «синтаксическая ошибка» вводится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Определение привязать к незакрытой скобке. После исправления обязательно отдельно проверить итог.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Подчеркнуть различие между тем, что человек видит как процент, и фактическим типом значения в программе.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Термин вводится после того, как группа назвала место остановки и фактическое значение.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показывать причину сразу. Сначала спросить, означает ли успешное завершение правильный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Сравнить не арифметику процентов, а два фактических промежуточных значения: 100 и 0,1.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Объяснить, почему среда не обязана сообщать о проблеме: все отдельные операции допустимы.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показывать значение 15 до вопроса. Дать группе возможность сначала предложить проверить фактические входы.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Подчеркнуть, что версии «другая акция», «не тот файл» и «не тот товар» остаются гипотезами до проверки источника.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Показать, что три термина относятся к разным событиям одной истории.</a:t>
            </a:r>
          </a:p>
          <a:p>
            <a:r>
              <a:t>Источник: https://istqb.org/wp-content/uploads/2024/11/ISTQB_CTFL_Syllabus_v4.0.1.pdf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каждого шага спросить, зачем он нужен. Исправлять код только после конкретной проверяемой гипотезы.</a:t>
            </a:r>
          </a:p>
          <a:p>
            <a:r>
              <a:t>Источник: https://istqb.org/wp-content/uploads/2024/11/ISTQB_CTFL_Syllabus_v4.0.1.pdf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Объяснить назначение проверок: исходный случай подтверждает устранение отказа, границы проверяют поведение формулы в крайних условиях.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Дать студентам время ответить. Не называть вид ошибки и не показывать исправленную строку до следующего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Зафиксировать логику: до запуска проверяем запись программы. Промежуточных значений ещё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подсказывать, что distance имеет текстовый тип. Студенты должны назвать это по кавычкам и сообщению.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 различие между формулой и подготовкой данных. Здесь ошибка проявилась во время выполнения.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показывать скобки и правильную формулу до следующего слайда. Студенты должны восстановить порядок вычисления.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разобрать порядок ошибочного вычисления. Затем показать скобки и получить ожидаемый результат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выделять тариф 250 цветом как ошибочный. До ответа студентов показывать только условие, входы и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Провести обе подстановки по одной формуле. Расхождение возникает до вычисления, в фактическом тарифе.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Выходной вопрос: попросить уточнить наблюдаемое состояние, входы, ожидаемый и фактический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C101B1-D0A1-4CA9-BB16-3CEF2B8207B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73342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Виды ошибок</a:t>
            </a:r>
          </a:p>
          <a:p>
            <a:pPr algn="l">
              <a:lnSpc>
                <a:spcPct val="95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отладка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CDE89-355D-4AD3-8FDD-EBD0C2BE88C8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8191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0">
                <a:solidFill>
                  <a:srgbClr val="AFC2D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FC2D9"/>
                </a:solidFill>
                <a:latin typeface="Arial"/>
                <a:ea typeface="Arial"/>
                <a:cs typeface="Arial"/>
              </a:rPr>
              <a:t>Разбираем четыре запуска программы расчёта скидки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09CC2-A486-4B60-B5BF-1D0B1A72EE9A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8382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E4B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B04A"/>
                </a:solidFill>
                <a:latin typeface="Arial"/>
                <a:ea typeface="Arial"/>
                <a:cs typeface="Arial"/>
              </a:rPr>
              <a:t>«Скидка не работает»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C4751-90A0-4B67-A331-59FC0B1AE997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5715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Каких фактов не хватает?</a:t>
            </a:r>
          </a:p>
        </p:txBody>
      </p:sp>
    </p:spTree>
    <p:extLst>
      <p:ext uri="{BB962C8B-B14F-4D97-AF65-F5344CB8AC3E}">
        <p14:creationId xmlns:p14="http://schemas.microsoft.com/office/powerpoint/2010/main" val="28404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0BAC7EE-17D9-42EF-B141-F0C3E01F2CA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Рабочий запуск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23B3EC-B5B4-40BC-A686-7C8B41A98029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BD3A7-AF7D-4220-AB1F-FE401A2BA5D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Входные данные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07E9B-80DA-4F6A-AA78-66D1A29D9C7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Цена 1000 ₽     Скидка 10%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D2C1DF-51CD-4D06-B506-03C000596194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7810500" cy="1809750"/>
          </a:xfrm>
          <a:prstGeom prst="roundRect">
            <a:avLst>
              <a:gd name="adj" fmla="val 8421"/>
            </a:avLst>
          </a:prstGeom>
          <a:solidFill>
            <a:srgbClr val="172235"/>
          </a:solidFill>
          <a:ln w="9525">
            <a:solidFill>
              <a:srgbClr val="172235"/>
            </a:solidFill>
          </a:ln>
        </p:spPr>
        <p:txBody>
          <a:bodyPr wrap="square" lIns="228600" tIns="190500" rIns="228600" bIns="190500" anchor="ctr">
            <a:normAutofit fontScale="93126"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price = 1000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 = 10</a:t>
            </a:r>
          </a:p>
          <a:p>
            <a:endParaRPr sz="1650" b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price × discount_percent / 100 = 100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price − discount_amount =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27FAB1-EAFE-483B-87B0-181E542E0A2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Какой результат должна показать программа?</a:t>
            </a:r>
          </a:p>
        </p:txBody>
      </p:sp>
    </p:spTree>
    <p:extLst>
      <p:ext uri="{BB962C8B-B14F-4D97-AF65-F5344CB8AC3E}">
        <p14:creationId xmlns:p14="http://schemas.microsoft.com/office/powerpoint/2010/main" val="23910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27BF40-7909-4384-A7E8-7F0208727DF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Рабочий запуск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743FAB-46A5-4259-991A-A21996AFE666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C71C81-1F58-4AC1-A4F2-BF013B7B0E4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Входные данные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52B1D-246D-4CD4-BC8D-A358AC1A16F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4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Цена 1000 ₽     Скидка 10%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368CC1-C7F8-425E-8074-A4AAE1AEEB6F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7810500" cy="1809750"/>
          </a:xfrm>
          <a:prstGeom prst="roundRect">
            <a:avLst>
              <a:gd name="adj" fmla="val 8421"/>
            </a:avLst>
          </a:prstGeom>
          <a:solidFill>
            <a:srgbClr val="172235"/>
          </a:solidFill>
          <a:ln w="9525">
            <a:solidFill>
              <a:srgbClr val="172235"/>
            </a:solidFill>
          </a:ln>
        </p:spPr>
        <p:txBody>
          <a:bodyPr wrap="square" lIns="228600" tIns="190500" rIns="228600" bIns="190500" anchor="ctr">
            <a:normAutofit fontScale="93126"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price = 1000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 = 10</a:t>
            </a:r>
          </a:p>
          <a:p>
            <a:endParaRPr sz="1650" b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price × discount_percent / 100 = 100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price − discount_amount = 900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D625E-2F60-4DF3-B7A6-7B3A21A05616}"/>
              </a:ext>
            </a:extLst>
          </p:cNvPr>
          <p:cNvSpPr>
            <a:spLocks noGrp="1"/>
          </p:cNvSpPr>
          <p:nvPr/>
        </p:nvSpPr>
        <p:spPr>
          <a:xfrm>
            <a:off x="9010650" y="2571750"/>
            <a:ext cx="2381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80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900 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6AFB5-CF09-477A-A6A3-4D285D7A3419}"/>
              </a:ext>
            </a:extLst>
          </p:cNvPr>
          <p:cNvSpPr>
            <a:spLocks noGrp="1"/>
          </p:cNvSpPr>
          <p:nvPr/>
        </p:nvSpPr>
        <p:spPr>
          <a:xfrm>
            <a:off x="9010650" y="35433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A503AE-D709-4C7B-82C9-5F520BFF0AFB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900 ₽ служит эталоном. Дальше сравниваем с ним фактическое поведение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82352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2A4632-C318-4C25-8352-D7A0C9BF233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Первый диагностический вопрос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D1D56-345D-4F0B-B33E-4F162C555B3C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0217A-B504-4C91-AF30-9661FDE602AF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7334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Выполнение началось?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89659A-D54C-4CF1-9322-2752BBD23D06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F5DDDD"/>
          </a:solidFill>
          <a:ln w="19050">
            <a:solidFill>
              <a:srgbClr val="C84C4C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Нет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A2F01-61CA-498A-94A2-018EEBF17454}"/>
              </a:ext>
            </a:extLst>
          </p:cNvPr>
          <p:cNvSpPr>
            <a:spLocks noGrp="1"/>
          </p:cNvSpPr>
          <p:nvPr/>
        </p:nvSpPr>
        <p:spPr>
          <a:xfrm>
            <a:off x="4495800" y="2571750"/>
            <a:ext cx="3143250" cy="685800"/>
          </a:xfrm>
          <a:prstGeom prst="roundRect">
            <a:avLst>
              <a:gd name="adj" fmla="val 22222"/>
            </a:avLst>
          </a:prstGeom>
          <a:solidFill>
            <a:srgbClr val="F8E5D8"/>
          </a:solidFill>
          <a:ln w="19050">
            <a:solidFill>
              <a:srgbClr val="D96B35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Да, но остановилось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9F66BD-5B83-4F7A-911B-7EE5253F8FD5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857500" cy="685800"/>
          </a:xfrm>
          <a:prstGeom prst="roundRect">
            <a:avLst>
              <a:gd name="adj" fmla="val 22222"/>
            </a:avLst>
          </a:prstGeom>
          <a:solidFill>
            <a:srgbClr val="DCECDF"/>
          </a:solidFill>
          <a:ln w="19050">
            <a:solidFill>
              <a:srgbClr val="357A50"/>
            </a:solidFill>
          </a:ln>
        </p:spPr>
        <p:txBody>
          <a:bodyPr wrap="square" lIns="76200" tIns="76200" rIns="76200" bIns="76200" anchor="ctr">
            <a:normAutofit fontScale="84039" lnSpcReduction="10000"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Да, результат получен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282079-60E4-48F6-B1D8-375D310F0191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26479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 fontScale="96618"/>
          </a:bodyPr>
          <a:lstStyle/>
          <a:p>
            <a:pPr algn="ctr">
              <a:lnSpc>
                <a:spcPct val="105000"/>
              </a:lnSpc>
              <a:buNone/>
              <a:defRPr sz="172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Сообщение и запись программы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623679-6D52-4191-9067-9B5E20165F51}"/>
              </a:ext>
            </a:extLst>
          </p:cNvPr>
          <p:cNvSpPr>
            <a:spLocks noGrp="1"/>
          </p:cNvSpPr>
          <p:nvPr/>
        </p:nvSpPr>
        <p:spPr>
          <a:xfrm>
            <a:off x="4419600" y="3562350"/>
            <a:ext cx="3295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Последнее действие, значение и тип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8C9889-B326-436B-9D72-1CFC57A8304E}"/>
              </a:ext>
            </a:extLst>
          </p:cNvPr>
          <p:cNvSpPr>
            <a:spLocks noGrp="1"/>
          </p:cNvSpPr>
          <p:nvPr/>
        </p:nvSpPr>
        <p:spPr>
          <a:xfrm>
            <a:off x="8610600" y="3562350"/>
            <a:ext cx="2952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Входы и промежуточные значения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26781-36BA-436E-A4F4-66A71D21D29D}"/>
              </a:ext>
            </a:extLst>
          </p:cNvPr>
          <p:cNvSpPr>
            <a:spLocks noGrp="1"/>
          </p:cNvSpPr>
          <p:nvPr/>
        </p:nvSpPr>
        <p:spPr>
          <a:xfrm>
            <a:off x="1562100" y="5162550"/>
            <a:ext cx="9067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203" lnSpcReduction="10000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Сначала фиксируем состояние программы. Название ошибки появится после разбора фактов.</a:t>
            </a:r>
          </a:p>
        </p:txBody>
      </p:sp>
    </p:spTree>
    <p:extLst>
      <p:ext uri="{BB962C8B-B14F-4D97-AF65-F5344CB8AC3E}">
        <p14:creationId xmlns:p14="http://schemas.microsoft.com/office/powerpoint/2010/main" val="205189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4E643-9BBD-474A-A4E5-857D2FF423C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Случай 1. Что произошло?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86A03-D9B9-43E4-AD3B-CC9C48128C0E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D86459-19AB-4FD1-AD12-491272DD98A4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7143750" cy="2333625"/>
          </a:xfrm>
          <a:prstGeom prst="roundRect">
            <a:avLst>
              <a:gd name="adj" fmla="val 6531"/>
            </a:avLst>
          </a:prstGeom>
          <a:solidFill>
            <a:srgbClr val="172235"/>
          </a:solidFill>
          <a:ln w="9525">
            <a:solidFill>
              <a:srgbClr val="1722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price = 1000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 = 10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price * (discount_percent / 100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FEC5C-22B4-4AAD-A4C1-B97556535387}"/>
              </a:ext>
            </a:extLst>
          </p:cNvPr>
          <p:cNvSpPr>
            <a:spLocks noGrp="1"/>
          </p:cNvSpPr>
          <p:nvPr/>
        </p:nvSpPr>
        <p:spPr>
          <a:xfrm>
            <a:off x="8210550" y="15811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676"/>
                </a:solidFill>
                <a:latin typeface="Arial"/>
                <a:ea typeface="Arial"/>
                <a:cs typeface="Arial"/>
              </a:rPr>
              <a:t>Сообщение среды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842B49-DB99-4579-9890-C9615AA0DAFC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3238500" cy="819150"/>
          </a:xfrm>
          <a:prstGeom prst="roundRect">
            <a:avLst>
              <a:gd name="adj" fmla="val 13953"/>
            </a:avLst>
          </a:prstGeom>
          <a:solidFill>
            <a:srgbClr val="F5DDDD"/>
          </a:solidFill>
          <a:ln w="14288">
            <a:solidFill>
              <a:srgbClr val="C84C4C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Ожидалась закрывающая скобка 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2B61B-FB47-457A-92FD-DF83C23E55A8}"/>
              </a:ext>
            </a:extLst>
          </p:cNvPr>
          <p:cNvSpPr>
            <a:spLocks noGrp="1"/>
          </p:cNvSpPr>
          <p:nvPr/>
        </p:nvSpPr>
        <p:spPr>
          <a:xfrm>
            <a:off x="742950" y="4838700"/>
            <a:ext cx="695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Началось ли выполнение?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AB6AB-94FE-4D6D-A90A-0EEA3C32C8AC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8477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Успели ли переменные получить значения?</a:t>
            </a:r>
          </a:p>
        </p:txBody>
      </p:sp>
    </p:spTree>
    <p:extLst>
      <p:ext uri="{BB962C8B-B14F-4D97-AF65-F5344CB8AC3E}">
        <p14:creationId xmlns:p14="http://schemas.microsoft.com/office/powerpoint/2010/main" val="131876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0ED286-AEBE-4FC6-82AE-7C3094DB091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Синтаксическая ошибка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2C0290-6AB8-462B-9B5C-CDF61327B13F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BA83E1-4327-4F88-A1ED-E5AB7087E21F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Выполнение не началось. Значения расчёта не появились.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107FB-C115-4E5A-B251-C4F6316EC48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A6676"/>
                </a:solidFill>
                <a:latin typeface="Arial"/>
                <a:ea typeface="Arial"/>
                <a:cs typeface="Arial"/>
              </a:rPr>
              <a:t>Причина: нарушены правила записи языка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7ABDA0-4A8F-405A-BE1E-9A2E91DDE4A8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0096500" cy="1466850"/>
          </a:xfrm>
          <a:prstGeom prst="roundRect">
            <a:avLst>
              <a:gd name="adj" fmla="val 10390"/>
            </a:avLst>
          </a:prstGeom>
          <a:solidFill>
            <a:srgbClr val="172235"/>
          </a:solidFill>
          <a:ln w="9525">
            <a:solidFill>
              <a:srgbClr val="1722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Было:   price * (discount_percent / 100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Стало:  price * (discount_percent / 100)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D8580-2269-42C7-AFBB-07FCC4BF2C4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Первое действие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D4C939-BDE5-4AB4-B639-0DFD39211CD8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287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0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Прочитать сообщение. Проверить указанное место и ближайшую незавершённую конструкцию. Исправить и снова запустить.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12DAF-6557-428A-90F8-B9CE4F96F148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Запуск после исправления ещё не доказывает правильность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66644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E1379D-DB0B-45F8-89CA-445B5B65F04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Случай 2. Текст вместо числа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732C86-C562-4B3E-B51E-939C1F499DDC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627725-F685-4294-955E-0F036239FC7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Фактические входные данные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499581-2E96-4E6D-B720-9E4CB8BD9CB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429500" cy="1619250"/>
          </a:xfrm>
          <a:prstGeom prst="roundRect">
            <a:avLst>
              <a:gd name="adj" fmla="val 9412"/>
            </a:avLst>
          </a:prstGeom>
          <a:solidFill>
            <a:srgbClr val="172235"/>
          </a:solidFill>
          <a:ln w="9525">
            <a:solidFill>
              <a:srgbClr val="1722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9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price = 1000                 число</a:t>
            </a: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 = "10%"    текст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67A7F-BB5E-4DA7-A010-0E5AED11054F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A6676"/>
                </a:solidFill>
                <a:latin typeface="Arial"/>
                <a:ea typeface="Arial"/>
                <a:cs typeface="Arial"/>
              </a:rPr>
              <a:t>Операция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A5FA3F-7966-4C55-966D-D9C0A3A776C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33813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6B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D96B35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D96B35"/>
                </a:solidFill>
                <a:latin typeface="Consolas"/>
                <a:ea typeface="Consolas"/>
                <a:cs typeface="Consolas"/>
              </a:rPr>
              <a:t>"10%" / 100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2C43DD-AAD6-418C-8D16-5E8EAECEF1CC}"/>
              </a:ext>
            </a:extLst>
          </p:cNvPr>
          <p:cNvSpPr>
            <a:spLocks noGrp="1"/>
          </p:cNvSpPr>
          <p:nvPr/>
        </p:nvSpPr>
        <p:spPr>
          <a:xfrm>
            <a:off x="4514850" y="4229100"/>
            <a:ext cx="6381750" cy="1028700"/>
          </a:xfrm>
          <a:prstGeom prst="roundRect">
            <a:avLst>
              <a:gd name="adj" fmla="val 11111"/>
            </a:avLst>
          </a:prstGeom>
          <a:solidFill>
            <a:srgbClr val="F8E5D8"/>
          </a:solidFill>
          <a:ln w="14288">
            <a:solidFill>
              <a:srgbClr val="D96B35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Текст нельзя разделить на число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F054DB-A105-4E71-AF9C-430D89643048}"/>
              </a:ext>
            </a:extLst>
          </p:cNvPr>
          <p:cNvSpPr>
            <a:spLocks noGrp="1"/>
          </p:cNvSpPr>
          <p:nvPr/>
        </p:nvSpPr>
        <p:spPr>
          <a:xfrm>
            <a:off x="5257800" y="5619750"/>
            <a:ext cx="590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На каком действии остановился расчёт?</a:t>
            </a:r>
          </a:p>
        </p:txBody>
      </p:sp>
    </p:spTree>
    <p:extLst>
      <p:ext uri="{BB962C8B-B14F-4D97-AF65-F5344CB8AC3E}">
        <p14:creationId xmlns:p14="http://schemas.microsoft.com/office/powerpoint/2010/main" val="195340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807958-FE42-43E5-B4F3-768E3C9E9E8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Ошибка времени выполнения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1DDDCC-572B-4409-B0FE-E877C2CB852B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DD7C0D-C71E-463B-996A-59699059C0DB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2286000" cy="990600"/>
          </a:xfrm>
          <a:prstGeom prst="roundRect">
            <a:avLst>
              <a:gd name="adj" fmla="val 15385"/>
            </a:avLst>
          </a:prstGeom>
          <a:solidFill>
            <a:srgbClr val="DCEFF0"/>
          </a:solidFill>
          <a:ln w="19050">
            <a:solidFill>
              <a:srgbClr val="137F85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Входы</a:t>
            </a:r>
          </a:p>
          <a:p>
            <a:pPr algn="ct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прочитаны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3932B9-FA46-4203-B55D-F01A1C565DB1}"/>
              </a:ext>
            </a:extLst>
          </p:cNvPr>
          <p:cNvSpPr>
            <a:spLocks noGrp="1"/>
          </p:cNvSpPr>
          <p:nvPr/>
        </p:nvSpPr>
        <p:spPr>
          <a:xfrm>
            <a:off x="4876800" y="2038350"/>
            <a:ext cx="2476500" cy="990600"/>
          </a:xfrm>
          <a:prstGeom prst="roundRect">
            <a:avLst>
              <a:gd name="adj" fmla="val 15385"/>
            </a:avLst>
          </a:prstGeom>
          <a:solidFill>
            <a:srgbClr val="F8E5D8"/>
          </a:solidFill>
          <a:ln w="19050">
            <a:solidFill>
              <a:srgbClr val="D96B35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Деление</a:t>
            </a:r>
          </a:p>
          <a:p>
            <a:pPr algn="ctr">
              <a:lnSpc>
                <a:spcPct val="105000"/>
              </a:lnSpc>
              <a:buNone/>
              <a:defRPr sz="2025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"10%" / 100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8F8A56-B3CD-4975-BACF-17ADF441E982}"/>
              </a:ext>
            </a:extLst>
          </p:cNvPr>
          <p:cNvSpPr>
            <a:spLocks noGrp="1"/>
          </p:cNvSpPr>
          <p:nvPr/>
        </p:nvSpPr>
        <p:spPr>
          <a:xfrm>
            <a:off x="9124950" y="2038350"/>
            <a:ext cx="2190750" cy="990600"/>
          </a:xfrm>
          <a:prstGeom prst="roundRect">
            <a:avLst>
              <a:gd name="adj" fmla="val 15385"/>
            </a:avLst>
          </a:prstGeom>
          <a:solidFill>
            <a:srgbClr val="F5DDDD"/>
          </a:solidFill>
          <a:ln w="19050">
            <a:solidFill>
              <a:srgbClr val="C84C4C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Остановка</a:t>
            </a:r>
          </a:p>
        </p:txBody>
      </p:sp>
      <p:cxnSp>
        <p:nvCxnSpPr>
          <p:cNvPr id="15" name="Straight Arrow Connector 14"/>
          <p:cNvCxnSpPr>
            <a:stCxn id="3" idx="3"/>
            <a:endCxn id="4" idx="1"/>
          </p:cNvCxnSpPr>
          <p:nvPr/>
        </p:nvCxnSpPr>
        <p:spPr>
          <a:xfrm>
            <a:off x="3067050" y="2533650"/>
            <a:ext cx="1809750" cy="0"/>
          </a:xfrm>
          <a:prstGeom prst="straightConnector1">
            <a:avLst/>
          </a:prstGeom>
          <a:ln w="28575">
            <a:solidFill>
              <a:srgbClr val="CDD4DC"/>
            </a:solidFill>
            <a:prstDash val="solid"/>
            <a:tailEnd type="triangle" w="sm" len="sm"/>
          </a:ln>
        </p:spPr>
      </p:cxnSp>
      <p:cxnSp>
        <p:nvCxnSpPr>
          <p:cNvPr id="16" name="Straight Arrow Connector 15"/>
          <p:cNvCxnSpPr>
            <a:stCxn id="4" idx="3"/>
            <a:endCxn id="5" idx="1"/>
          </p:cNvCxnSpPr>
          <p:nvPr/>
        </p:nvCxnSpPr>
        <p:spPr>
          <a:xfrm>
            <a:off x="7353300" y="2533650"/>
            <a:ext cx="1771650" cy="0"/>
          </a:xfrm>
          <a:prstGeom prst="straightConnector1">
            <a:avLst/>
          </a:prstGeom>
          <a:ln w="28575">
            <a:solidFill>
              <a:srgbClr val="CDD4DC"/>
            </a:solidFill>
            <a:prstDash val="solid"/>
            <a:tailEnd type="triangl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13326E7-6B8D-437A-8D47-5534F40A2C52}"/>
              </a:ext>
            </a:extLst>
          </p:cNvPr>
          <p:cNvSpPr>
            <a:spLocks noGrp="1"/>
          </p:cNvSpPr>
          <p:nvPr/>
        </p:nvSpPr>
        <p:spPr>
          <a:xfrm>
            <a:off x="1333500" y="3848100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306" lnSpcReduction="10000"/>
          </a:bodyPr>
          <a:lstStyle/>
          <a:p>
            <a:pPr algn="ctr">
              <a:lnSpc>
                <a:spcPct val="105000"/>
              </a:lnSpc>
              <a:buNone/>
              <a:defRPr sz="24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Проблема проявилась после запуска на конкретном действии и конкретном значении.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11191-C638-4A4B-9C5B-2242E7A4988A}"/>
              </a:ext>
            </a:extLst>
          </p:cNvPr>
          <p:cNvSpPr>
            <a:spLocks noGrp="1"/>
          </p:cNvSpPr>
          <p:nvPr/>
        </p:nvSpPr>
        <p:spPr>
          <a:xfrm>
            <a:off x="1047750" y="4972050"/>
            <a:ext cx="10096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Первое действие: сохранить сообщение, посмотреть фактическое значение и его тип в момент остановки.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3074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1D4A8F-C738-4E53-A6D8-13C510CEC0D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Случай 3. Итог 999,90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3D0C9A-EB6C-41AC-8975-88E7C7B6E87C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C9334-415B-486D-82AA-A3A36C29F525}"/>
              </a:ext>
            </a:extLst>
          </p:cNvPr>
          <p:cNvSpPr>
            <a:spLocks noGrp="1"/>
          </p:cNvSpPr>
          <p:nvPr/>
        </p:nvSpPr>
        <p:spPr>
          <a:xfrm>
            <a:off x="762000" y="13525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Входные данные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ABFE5E-5C92-4FF3-BC18-FA89479D08A5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Цена 1000 ₽     Скидка 10%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1F4222-E2FE-44E9-962C-5CD3B60B3E64}"/>
              </a:ext>
            </a:extLst>
          </p:cNvPr>
          <p:cNvSpPr>
            <a:spLocks noGrp="1"/>
          </p:cNvSpPr>
          <p:nvPr/>
        </p:nvSpPr>
        <p:spPr>
          <a:xfrm>
            <a:off x="1524000" y="30480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Ожидалось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95484-DDD3-4A4E-9CA6-B456BD1DF04E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50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900 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AC2122-53D9-430E-8A8D-5CD1F5872434}"/>
              </a:ext>
            </a:extLst>
          </p:cNvPr>
          <p:cNvSpPr>
            <a:spLocks noGrp="1"/>
          </p:cNvSpPr>
          <p:nvPr/>
        </p:nvSpPr>
        <p:spPr>
          <a:xfrm>
            <a:off x="7734300" y="30480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Получено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D2A1EF-FB60-4680-A72B-A562ADB7D481}"/>
              </a:ext>
            </a:extLst>
          </p:cNvPr>
          <p:cNvSpPr>
            <a:spLocks noGrp="1"/>
          </p:cNvSpPr>
          <p:nvPr/>
        </p:nvSpPr>
        <p:spPr>
          <a:xfrm>
            <a:off x="7734300" y="3486150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5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999,90 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9315A0-1436-48C1-9609-E5C7586E8D3C}"/>
              </a:ext>
            </a:extLst>
          </p:cNvPr>
          <p:cNvSpPr>
            <a:spLocks noGrp="1"/>
          </p:cNvSpPr>
          <p:nvPr/>
        </p:nvSpPr>
        <p:spPr>
          <a:xfrm>
            <a:off x="1543050" y="5276850"/>
            <a:ext cx="91059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Выполнение завершилось? Где появилось первое неправильное значение?</a:t>
            </a:r>
          </a:p>
        </p:txBody>
      </p:sp>
    </p:spTree>
    <p:extLst>
      <p:ext uri="{BB962C8B-B14F-4D97-AF65-F5344CB8AC3E}">
        <p14:creationId xmlns:p14="http://schemas.microsoft.com/office/powerpoint/2010/main" val="62404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7E108E5-61DE-4A55-A85C-5C4BC355626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Первое расхождение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30ABE-6E3C-45DC-B271-9CFE1B4233D8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1B294-9F3B-433C-9A8B-36797839C0B7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Рабочий запуск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16217C-964B-4195-9439-5767B0967B02}"/>
              </a:ext>
            </a:extLst>
          </p:cNvPr>
          <p:cNvSpPr>
            <a:spLocks noGrp="1"/>
          </p:cNvSpPr>
          <p:nvPr/>
        </p:nvSpPr>
        <p:spPr>
          <a:xfrm>
            <a:off x="6705600" y="1314450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Проблемный запуск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0E34A7-85AB-4C60-8936-AC8F79EEA595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37376" cy="2705100"/>
          </a:xfrm>
          <a:prstGeom prst="roundRect">
            <a:avLst>
              <a:gd name="adj" fmla="val 5634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</a:t>
            </a: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= price </a:t>
            </a:r>
            <a:r>
              <a:rPr lang="ru-RU" sz="1875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* </a:t>
            </a: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</a:t>
            </a: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/ 100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endParaRPr lang="ru-RU" sz="1875" b="0" dirty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</a:t>
            </a: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= 100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900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9C2465-99B6-468D-95AA-34D2AF22D9DF}"/>
              </a:ext>
            </a:extLst>
          </p:cNvPr>
          <p:cNvSpPr>
            <a:spLocks noGrp="1"/>
          </p:cNvSpPr>
          <p:nvPr/>
        </p:nvSpPr>
        <p:spPr>
          <a:xfrm>
            <a:off x="5923177" y="1924050"/>
            <a:ext cx="5563974" cy="2705100"/>
          </a:xfrm>
          <a:prstGeom prst="roundRect">
            <a:avLst>
              <a:gd name="adj" fmla="val 5634"/>
            </a:avLst>
          </a:prstGeom>
          <a:solidFill>
            <a:srgbClr val="172235"/>
          </a:solidFill>
          <a:ln w="19050">
            <a:solidFill>
              <a:srgbClr val="C84C4C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price -</a:t>
            </a:r>
            <a:r>
              <a:rPr lang="ru-RU"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</a:t>
            </a: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/ 100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вычитаемое</a:t>
            </a: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= 0,1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999,90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F4C88E-AF9B-413B-B9B4-B4CB4514778B}"/>
              </a:ext>
            </a:extLst>
          </p:cNvPr>
          <p:cNvSpPr>
            <a:spLocks noGrp="1"/>
          </p:cNvSpPr>
          <p:nvPr/>
        </p:nvSpPr>
        <p:spPr>
          <a:xfrm>
            <a:off x="990600" y="5010150"/>
            <a:ext cx="1809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100 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CDF1F-B2EE-40A0-9855-84D9741F76CA}"/>
              </a:ext>
            </a:extLst>
          </p:cNvPr>
          <p:cNvSpPr>
            <a:spLocks noGrp="1"/>
          </p:cNvSpPr>
          <p:nvPr/>
        </p:nvSpPr>
        <p:spPr>
          <a:xfrm>
            <a:off x="1047750" y="55816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сумма скидки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991DA-0FEA-4E56-A7EA-C31ADD2ECC8D}"/>
              </a:ext>
            </a:extLst>
          </p:cNvPr>
          <p:cNvSpPr>
            <a:spLocks noGrp="1"/>
          </p:cNvSpPr>
          <p:nvPr/>
        </p:nvSpPr>
        <p:spPr>
          <a:xfrm>
            <a:off x="6934200" y="5010150"/>
            <a:ext cx="1809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0,1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6D613-967D-4610-B9CE-3D475AFACDE7}"/>
              </a:ext>
            </a:extLst>
          </p:cNvPr>
          <p:cNvSpPr>
            <a:spLocks noGrp="1"/>
          </p:cNvSpPr>
          <p:nvPr/>
        </p:nvSpPr>
        <p:spPr>
          <a:xfrm>
            <a:off x="6972300" y="55816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доля без цены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FBEB4-C15C-4289-AB6F-3D87330AA7DE}"/>
              </a:ext>
            </a:extLst>
          </p:cNvPr>
          <p:cNvSpPr>
            <a:spLocks noGrp="1"/>
          </p:cNvSpPr>
          <p:nvPr/>
        </p:nvSpPr>
        <p:spPr>
          <a:xfrm>
            <a:off x="8782050" y="5105400"/>
            <a:ext cx="26479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 fontScale="95885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В формуле пропущено умножение на цену</a:t>
            </a:r>
          </a:p>
        </p:txBody>
      </p:sp>
    </p:spTree>
    <p:extLst>
      <p:ext uri="{BB962C8B-B14F-4D97-AF65-F5344CB8AC3E}">
        <p14:creationId xmlns:p14="http://schemas.microsoft.com/office/powerpoint/2010/main" val="22920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7FF32B-7C81-48D2-B563-5EFCEAE6D8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Логическая ошибка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8E5BE1-9942-4C09-A524-6F46D24D5387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83F971-7707-4E7C-AA89-199369DFF8F2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572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7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Программа выполнила все команды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C40BF-F88B-4A3C-BEF4-4EC813CA98E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9334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75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Результат не соответствует правилу расчёта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1CE056-AE8E-4576-8BAD-1A2250392C9D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10001250" cy="1619250"/>
          </a:xfrm>
          <a:prstGeom prst="roundRect">
            <a:avLst>
              <a:gd name="adj" fmla="val 9412"/>
            </a:avLst>
          </a:prstGeom>
          <a:solidFill>
            <a:srgbClr val="172235"/>
          </a:solidFill>
          <a:ln w="9525">
            <a:solidFill>
              <a:srgbClr val="1722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Допустимая запись:  1000 - 10 / 100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Неверный смысл:     из цены вычитается 0,1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D106B-786D-4883-A264-19177B7E1160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Первое действие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06B37-68E7-4488-A697-4EC00D0FD2F0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8898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Сравнить промежуточные значения с рабочим запуском до первого расхождения.</a:t>
            </a:r>
          </a:p>
        </p:txBody>
      </p:sp>
    </p:spTree>
    <p:extLst>
      <p:ext uri="{BB962C8B-B14F-4D97-AF65-F5344CB8AC3E}">
        <p14:creationId xmlns:p14="http://schemas.microsoft.com/office/powerpoint/2010/main" val="51666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948E54-9B50-4261-B8A9-54BCE8F1959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Случай 4. Итог 850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E520AE-9F50-4D64-98D1-595F09CAD0C4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A1120A-BAD6-4378-8AB0-0CA1EAA1DDBC}"/>
              </a:ext>
            </a:extLst>
          </p:cNvPr>
          <p:cNvSpPr>
            <a:spLocks noGrp="1"/>
          </p:cNvSpPr>
          <p:nvPr/>
        </p:nvSpPr>
        <p:spPr>
          <a:xfrm>
            <a:off x="723900" y="13525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По условию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D28A92-EC60-4C08-ADE1-4524554CD500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Цена 1000 ₽     Скидка 10%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90E59-B8E9-46B6-B45A-7928FE4572F8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В программе записана правильная формула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C1BA85-4511-479F-9D30-FB7107BDB904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8096250" cy="1619250"/>
          </a:xfrm>
          <a:prstGeom prst="roundRect">
            <a:avLst>
              <a:gd name="adj" fmla="val 9412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price * discount_percent / 100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price - discount_amount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86EB25-E3D6-4FCF-AF67-53AB1B8C477A}"/>
              </a:ext>
            </a:extLst>
          </p:cNvPr>
          <p:cNvSpPr>
            <a:spLocks noGrp="1"/>
          </p:cNvSpPr>
          <p:nvPr/>
        </p:nvSpPr>
        <p:spPr>
          <a:xfrm>
            <a:off x="9258300" y="3238500"/>
            <a:ext cx="2190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65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850 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166E4-2CE1-467D-82AE-7CD57445FC9C}"/>
              </a:ext>
            </a:extLst>
          </p:cNvPr>
          <p:cNvSpPr>
            <a:spLocks noGrp="1"/>
          </p:cNvSpPr>
          <p:nvPr/>
        </p:nvSpPr>
        <p:spPr>
          <a:xfrm>
            <a:off x="9258300" y="430530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фактический итог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FF66B2-D5C4-41C1-9DCB-A474D45CB812}"/>
              </a:ext>
            </a:extLst>
          </p:cNvPr>
          <p:cNvSpPr>
            <a:spLocks noGrp="1"/>
          </p:cNvSpPr>
          <p:nvPr/>
        </p:nvSpPr>
        <p:spPr>
          <a:xfrm>
            <a:off x="1790700" y="5524500"/>
            <a:ext cx="8610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Где искать причину, если формула выглядит верно?</a:t>
            </a:r>
          </a:p>
        </p:txBody>
      </p:sp>
    </p:spTree>
    <p:extLst>
      <p:ext uri="{BB962C8B-B14F-4D97-AF65-F5344CB8AC3E}">
        <p14:creationId xmlns:p14="http://schemas.microsoft.com/office/powerpoint/2010/main" val="275319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1E641B-E8A6-4ADD-84A1-646F881E0B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Фактическое значение 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2346-C7E6-4BE3-A8B8-4CD82DEFC7B5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86466-7B14-482B-BBDD-A1C5C568782A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Требование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94F180-FB01-4E24-9605-B1D62BE21B6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6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discount_percent =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5D5AF-E499-46A1-8033-646818FC43F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Файл настройки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9178B8-737C-4813-AFC7-4B41A3292A47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4762500" cy="1047750"/>
          </a:xfrm>
          <a:prstGeom prst="roundRect">
            <a:avLst>
              <a:gd name="adj" fmla="val 14545"/>
            </a:avLst>
          </a:prstGeom>
          <a:solidFill>
            <a:srgbClr val="172235"/>
          </a:solidFill>
          <a:ln w="19050">
            <a:solidFill>
              <a:srgbClr val="D96B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3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discount_percent = 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04442B-CB1B-407B-919F-8C68A23B72AE}"/>
              </a:ext>
            </a:extLst>
          </p:cNvPr>
          <p:cNvSpPr>
            <a:spLocks noGrp="1"/>
          </p:cNvSpPr>
          <p:nvPr/>
        </p:nvSpPr>
        <p:spPr>
          <a:xfrm>
            <a:off x="6172200" y="1695450"/>
            <a:ext cx="5334000" cy="2095500"/>
          </a:xfrm>
          <a:prstGeom prst="roundRect">
            <a:avLst>
              <a:gd name="adj" fmla="val 7273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1000 * 15 / 100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150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1000 - 150 = 850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242E8-AB92-482D-92BC-DBF39422A9B3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5238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Формула правильно рассчитала результат для полученного значения 15.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26CA52-876F-44FC-B400-289CF1EB3B37}"/>
              </a:ext>
            </a:extLst>
          </p:cNvPr>
          <p:cNvSpPr>
            <a:spLocks noGrp="1"/>
          </p:cNvSpPr>
          <p:nvPr/>
        </p:nvSpPr>
        <p:spPr>
          <a:xfrm>
            <a:off x="1143000" y="5410200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918" lnSpcReduction="10000"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Первое действие: проверить значение перед расчётом и проследить его источник.</a:t>
            </a:r>
          </a:p>
        </p:txBody>
      </p:sp>
    </p:spTree>
    <p:extLst>
      <p:ext uri="{BB962C8B-B14F-4D97-AF65-F5344CB8AC3E}">
        <p14:creationId xmlns:p14="http://schemas.microsoft.com/office/powerpoint/2010/main" val="161490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D3F032F-05F9-428A-95A1-E7BA0839B1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Ошибка человека, дефект и отказ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322731-91A1-4479-A3A3-5F3F0A43D19E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5CCBC3-6918-4A23-A411-9F3B2D9AFFF3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3048000" cy="723900"/>
          </a:xfrm>
          <a:prstGeom prst="roundRect">
            <a:avLst>
              <a:gd name="adj" fmla="val 21053"/>
            </a:avLst>
          </a:prstGeom>
          <a:solidFill>
            <a:srgbClr val="F8E5D8"/>
          </a:solidFill>
          <a:ln w="19050">
            <a:solidFill>
              <a:srgbClr val="D96B35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Ошибка человека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4E64F1-F36E-4B9E-93A7-3915B73D47CA}"/>
              </a:ext>
            </a:extLst>
          </p:cNvPr>
          <p:cNvSpPr>
            <a:spLocks noGrp="1"/>
          </p:cNvSpPr>
          <p:nvPr/>
        </p:nvSpPr>
        <p:spPr>
          <a:xfrm>
            <a:off x="4572000" y="1771650"/>
            <a:ext cx="3048000" cy="723900"/>
          </a:xfrm>
          <a:prstGeom prst="roundRect">
            <a:avLst>
              <a:gd name="adj" fmla="val 21053"/>
            </a:avLst>
          </a:prstGeom>
          <a:solidFill>
            <a:srgbClr val="F5DDDD"/>
          </a:solidFill>
          <a:ln w="19050">
            <a:solidFill>
              <a:srgbClr val="C84C4C"/>
            </a:solidFill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Дефект в коде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5D8792-EC9E-41C3-B0EA-AA58F2D5EF3B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3048000" cy="723900"/>
          </a:xfrm>
          <a:prstGeom prst="roundRect">
            <a:avLst>
              <a:gd name="adj" fmla="val 21053"/>
            </a:avLst>
          </a:prstGeom>
          <a:solidFill>
            <a:srgbClr val="DCEFF0"/>
          </a:solidFill>
          <a:ln w="19050">
            <a:solidFill>
              <a:srgbClr val="137F85"/>
            </a:solidFill>
          </a:ln>
        </p:spPr>
        <p:txBody>
          <a:bodyPr wrap="square" lIns="76200" tIns="76200" rIns="76200" bIns="76200" anchor="ctr">
            <a:normAutofit fontScale="92036"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Наблюдаемый отказ</a:t>
            </a:r>
          </a:p>
        </p:txBody>
      </p:sp>
      <p:cxnSp>
        <p:nvCxnSpPr>
          <p:cNvPr id="17" name="Straight Arrow Connector 16"/>
          <p:cNvCxnSpPr>
            <a:stCxn id="3" idx="3"/>
            <a:endCxn id="4" idx="1"/>
          </p:cNvCxnSpPr>
          <p:nvPr/>
        </p:nvCxnSpPr>
        <p:spPr>
          <a:xfrm>
            <a:off x="3790950" y="2133600"/>
            <a:ext cx="781050" cy="0"/>
          </a:xfrm>
          <a:prstGeom prst="straightConnector1">
            <a:avLst/>
          </a:prstGeom>
          <a:ln w="28575">
            <a:solidFill>
              <a:srgbClr val="CDD4DC"/>
            </a:solidFill>
            <a:prstDash val="solid"/>
            <a:tailEnd type="triangle" w="sm" len="sm"/>
          </a:ln>
        </p:spPr>
      </p:cxnSp>
      <p:cxnSp>
        <p:nvCxnSpPr>
          <p:cNvPr id="18" name="Straight Arrow Connector 17"/>
          <p:cNvCxnSpPr>
            <a:stCxn id="4" idx="3"/>
            <a:endCxn id="5" idx="1"/>
          </p:cNvCxnSpPr>
          <p:nvPr/>
        </p:nvCxnSpPr>
        <p:spPr>
          <a:xfrm>
            <a:off x="7620000" y="2133600"/>
            <a:ext cx="781050" cy="0"/>
          </a:xfrm>
          <a:prstGeom prst="straightConnector1">
            <a:avLst/>
          </a:prstGeom>
          <a:ln w="28575">
            <a:solidFill>
              <a:srgbClr val="CDD4DC"/>
            </a:solidFill>
            <a:prstDash val="solid"/>
            <a:tailEnd type="triangl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CA814F9-158B-481F-8EEE-253B336ABA71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Разработчик решил, что цену умножать не нужно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8937AA-B595-4CC9-80CA-B1A91EE004D7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В формуле отсутствует умножение на price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3438A-B266-4174-AD6F-56FB0AB91DDA}"/>
              </a:ext>
            </a:extLst>
          </p:cNvPr>
          <p:cNvSpPr>
            <a:spLocks noGrp="1"/>
          </p:cNvSpPr>
          <p:nvPr/>
        </p:nvSpPr>
        <p:spPr>
          <a:xfrm>
            <a:off x="8401050" y="295275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Пользователь видит 999,90 ₽ вместо 900 ₽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D1D134-E692-4731-AD49-3E88C438ACB0}"/>
              </a:ext>
            </a:extLst>
          </p:cNvPr>
          <p:cNvSpPr>
            <a:spLocks noGrp="1"/>
          </p:cNvSpPr>
          <p:nvPr/>
        </p:nvSpPr>
        <p:spPr>
          <a:xfrm>
            <a:off x="1200150" y="4953000"/>
            <a:ext cx="97917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При скидке 0% дефект останется, но заметного отказа не будет: обе формулы дадут 1000 ₽.</a:t>
            </a:r>
          </a:p>
        </p:txBody>
      </p:sp>
    </p:spTree>
    <p:extLst>
      <p:ext uri="{BB962C8B-B14F-4D97-AF65-F5344CB8AC3E}">
        <p14:creationId xmlns:p14="http://schemas.microsoft.com/office/powerpoint/2010/main" val="51530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5617A49-89E8-474C-86E5-A452DD200A1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Первый цикл отладки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AE068-5BF5-46D5-A60C-E68842903DEC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059375-121A-44DD-9873-8B3A06F5FD7B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514350" cy="514350"/>
          </a:xfrm>
          <a:prstGeom prst="ellipse">
            <a:avLst/>
          </a:prstGeom>
          <a:solidFill>
            <a:srgbClr val="137F85"/>
          </a:solidFill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B53E2-A74C-46F2-8997-953E27730DAD}"/>
              </a:ext>
            </a:extLst>
          </p:cNvPr>
          <p:cNvSpPr>
            <a:spLocks noGrp="1"/>
          </p:cNvSpPr>
          <p:nvPr/>
        </p:nvSpPr>
        <p:spPr>
          <a:xfrm>
            <a:off x="1619250" y="11620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Воспроизвести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0F7AE-8BBB-4D26-9E8B-EA809177540B}"/>
              </a:ext>
            </a:extLst>
          </p:cNvPr>
          <p:cNvSpPr>
            <a:spLocks noGrp="1"/>
          </p:cNvSpPr>
          <p:nvPr/>
        </p:nvSpPr>
        <p:spPr>
          <a:xfrm>
            <a:off x="4953000" y="116205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Снова получить 999,90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6EFD74-6603-41EB-A59A-05CAA21E1B14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514350" cy="514350"/>
          </a:xfrm>
          <a:prstGeom prst="ellipse">
            <a:avLst/>
          </a:prstGeom>
          <a:solidFill>
            <a:srgbClr val="137F85"/>
          </a:solidFill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AF8AC6-2D94-4B87-A6D8-85527DBE8F01}"/>
              </a:ext>
            </a:extLst>
          </p:cNvPr>
          <p:cNvSpPr>
            <a:spLocks noGrp="1"/>
          </p:cNvSpPr>
          <p:nvPr/>
        </p:nvSpPr>
        <p:spPr>
          <a:xfrm>
            <a:off x="1619250" y="19621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Записать факт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C34CF-9D8D-4C3A-924B-C3D4FDCDCC5F}"/>
              </a:ext>
            </a:extLst>
          </p:cNvPr>
          <p:cNvSpPr>
            <a:spLocks noGrp="1"/>
          </p:cNvSpPr>
          <p:nvPr/>
        </p:nvSpPr>
        <p:spPr>
          <a:xfrm>
            <a:off x="4953000" y="196215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Ожидалось 900, получено 999,90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268655-58A8-41DA-88AC-F2D21500BF58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514350" cy="514350"/>
          </a:xfrm>
          <a:prstGeom prst="ellipse">
            <a:avLst/>
          </a:prstGeom>
          <a:solidFill>
            <a:srgbClr val="137F85"/>
          </a:solidFill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AD0B01-5132-4D3E-8342-1A9DA1D6F7EA}"/>
              </a:ext>
            </a:extLst>
          </p:cNvPr>
          <p:cNvSpPr>
            <a:spLocks noGrp="1"/>
          </p:cNvSpPr>
          <p:nvPr/>
        </p:nvSpPr>
        <p:spPr>
          <a:xfrm>
            <a:off x="1619250" y="27622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Найти расхождение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756BB8-9250-4C16-A60B-E598E98222B3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0,1 вместо 100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4D5C42-FF66-4787-8306-9D6AA0EECE3A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514350" cy="514350"/>
          </a:xfrm>
          <a:prstGeom prst="ellipse">
            <a:avLst/>
          </a:prstGeom>
          <a:solidFill>
            <a:srgbClr val="D96B35"/>
          </a:solidFill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5F3E76-613A-4F82-941D-FFBA6DDEFE70}"/>
              </a:ext>
            </a:extLst>
          </p:cNvPr>
          <p:cNvSpPr>
            <a:spLocks noGrp="1"/>
          </p:cNvSpPr>
          <p:nvPr/>
        </p:nvSpPr>
        <p:spPr>
          <a:xfrm>
            <a:off x="1619250" y="3562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Проверить гипотезу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699702-15B0-4DCD-AB1E-43033DE8FB80}"/>
              </a:ext>
            </a:extLst>
          </p:cNvPr>
          <p:cNvSpPr>
            <a:spLocks noGrp="1"/>
          </p:cNvSpPr>
          <p:nvPr/>
        </p:nvSpPr>
        <p:spPr>
          <a:xfrm>
            <a:off x="4953000" y="356235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Не хватает умножения на цену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27A4EA-1148-407C-9D5D-9F0E67515DF1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514350" cy="514350"/>
          </a:xfrm>
          <a:prstGeom prst="ellipse">
            <a:avLst/>
          </a:prstGeom>
          <a:solidFill>
            <a:srgbClr val="D96B35"/>
          </a:solidFill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26957-CB0F-48BE-A9E5-42A23AC5E965}"/>
              </a:ext>
            </a:extLst>
          </p:cNvPr>
          <p:cNvSpPr>
            <a:spLocks noGrp="1"/>
          </p:cNvSpPr>
          <p:nvPr/>
        </p:nvSpPr>
        <p:spPr>
          <a:xfrm>
            <a:off x="1619250" y="43624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Исправить причину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84B8B-99DA-4810-B554-52813EF28249}"/>
              </a:ext>
            </a:extLst>
          </p:cNvPr>
          <p:cNvSpPr>
            <a:spLocks noGrp="1"/>
          </p:cNvSpPr>
          <p:nvPr/>
        </p:nvSpPr>
        <p:spPr>
          <a:xfrm>
            <a:off x="4953000" y="436245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Вернуть price в формулу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23978A-441E-492A-8399-1D6B71A28A62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514350" cy="514350"/>
          </a:xfrm>
          <a:prstGeom prst="ellipse">
            <a:avLst/>
          </a:prstGeom>
          <a:solidFill>
            <a:srgbClr val="D96B35"/>
          </a:solidFill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FAEC21-BAF0-413C-8F31-EC11DBE2AC4F}"/>
              </a:ext>
            </a:extLst>
          </p:cNvPr>
          <p:cNvSpPr>
            <a:spLocks noGrp="1"/>
          </p:cNvSpPr>
          <p:nvPr/>
        </p:nvSpPr>
        <p:spPr>
          <a:xfrm>
            <a:off x="1619250" y="51625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Повторить проверки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86312-D578-445B-922B-68141E524FC1}"/>
              </a:ext>
            </a:extLst>
          </p:cNvPr>
          <p:cNvSpPr>
            <a:spLocks noGrp="1"/>
          </p:cNvSpPr>
          <p:nvPr/>
        </p:nvSpPr>
        <p:spPr>
          <a:xfrm>
            <a:off x="4953000" y="516255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Тот же случай и границы</a:t>
            </a:r>
          </a:p>
        </p:txBody>
      </p:sp>
    </p:spTree>
    <p:extLst>
      <p:ext uri="{BB962C8B-B14F-4D97-AF65-F5344CB8AC3E}">
        <p14:creationId xmlns:p14="http://schemas.microsoft.com/office/powerpoint/2010/main" val="74705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93A3731-D334-404A-89FC-3C734257C4B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Повторная проверка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7AF9A5-C370-43C9-9618-F50AB41D469A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F105F-B7E3-4616-A9E0-DE0C6AFB9D62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Исправленная формула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1F6C4E-CF34-4514-AB7E-CC902E2F940E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096500" cy="1476375"/>
          </a:xfrm>
          <a:prstGeom prst="roundRect">
            <a:avLst>
              <a:gd name="adj" fmla="val 10323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discount_amount = price * discount_percent / 100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price - discount_amount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84860-AA4D-4246-928C-9C64AC1C6134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EDD13-9B87-4186-82C6-19932F313A94}"/>
              </a:ext>
            </a:extLst>
          </p:cNvPr>
          <p:cNvSpPr>
            <a:spLocks noGrp="1"/>
          </p:cNvSpPr>
          <p:nvPr/>
        </p:nvSpPr>
        <p:spPr>
          <a:xfrm>
            <a:off x="1181100" y="4514850"/>
            <a:ext cx="1714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22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1000 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BB3C1-EC30-4216-8C21-B9F3608F31FF}"/>
              </a:ext>
            </a:extLst>
          </p:cNvPr>
          <p:cNvSpPr>
            <a:spLocks noGrp="1"/>
          </p:cNvSpPr>
          <p:nvPr/>
        </p:nvSpPr>
        <p:spPr>
          <a:xfrm>
            <a:off x="5238750" y="3905250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38DD76-F119-45C2-9A9B-63D319A450C8}"/>
              </a:ext>
            </a:extLst>
          </p:cNvPr>
          <p:cNvSpPr>
            <a:spLocks noGrp="1"/>
          </p:cNvSpPr>
          <p:nvPr/>
        </p:nvSpPr>
        <p:spPr>
          <a:xfrm>
            <a:off x="5238750" y="4514850"/>
            <a:ext cx="1714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22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900 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6FF1D-9895-421B-B911-A9CD3ECBDD82}"/>
              </a:ext>
            </a:extLst>
          </p:cNvPr>
          <p:cNvSpPr>
            <a:spLocks noGrp="1"/>
          </p:cNvSpPr>
          <p:nvPr/>
        </p:nvSpPr>
        <p:spPr>
          <a:xfrm>
            <a:off x="9277350" y="3905250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1503C6-DE42-4F27-BF03-EB52BBAAC0D9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1714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22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0 ₽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025E0-59FD-42B6-842C-EF07478BD743}"/>
              </a:ext>
            </a:extLst>
          </p:cNvPr>
          <p:cNvSpPr>
            <a:spLocks noGrp="1"/>
          </p:cNvSpPr>
          <p:nvPr/>
        </p:nvSpPr>
        <p:spPr>
          <a:xfrm>
            <a:off x="1466850" y="5581650"/>
            <a:ext cx="9258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3130" lnSpcReduction="10000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Сначала повторяем исходный случай 10%. Затем проверяем понятные границы 0% и 100%.</a:t>
            </a:r>
          </a:p>
        </p:txBody>
      </p:sp>
    </p:spTree>
    <p:extLst>
      <p:ext uri="{BB962C8B-B14F-4D97-AF65-F5344CB8AC3E}">
        <p14:creationId xmlns:p14="http://schemas.microsoft.com/office/powerpoint/2010/main" val="1816577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6FABD5-C80A-4240-A3E6-F18B6D2CD6F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Практика 1. Периметр комнаты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F7E19-8819-49F0-A4EC-C9C071FED3CC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27FA4-288C-4523-A5C9-5D0354274FF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1AD664-1AD6-4715-9DB5-3F0B88DCB6A9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896100" cy="3314700"/>
          </a:xfrm>
          <a:prstGeom prst="roundRect">
            <a:avLst>
              <a:gd name="adj" fmla="val 4598"/>
            </a:avLst>
          </a:prstGeom>
          <a:solidFill>
            <a:srgbClr val="172235"/>
          </a:solidFill>
          <a:ln w="19050">
            <a:solidFill>
              <a:srgbClr val="C84C4C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length = 8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width = 5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perimeter = 2 * (length + width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print(perimeter)</a:t>
            </a:r>
          </a:p>
          <a:p>
            <a:endParaRPr sz="1800" b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Ожидалась закрывающая скобка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EB03-7B6B-4515-A95C-96AD1C8D8A27}"/>
              </a:ext>
            </a:extLst>
          </p:cNvPr>
          <p:cNvSpPr>
            <a:spLocks noGrp="1"/>
          </p:cNvSpPr>
          <p:nvPr/>
        </p:nvSpPr>
        <p:spPr>
          <a:xfrm>
            <a:off x="8096250" y="12573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Ответьте по порядку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BF3DB3-D3D6-4CD3-B1CF-E325A24ECFBB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3337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1. Началось ли выполнение?</a:t>
            </a:r>
          </a:p>
          <a:p>
            <a:endParaRPr sz="1950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buNone/>
              <a:defRPr sz="19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2. Что проверить первым?</a:t>
            </a:r>
          </a:p>
          <a:p>
            <a:endParaRPr sz="1950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buNone/>
              <a:defRPr sz="19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3. Какой это вид ошибки?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9A57C-9EC0-4033-8283-BE387B91BBDD}"/>
              </a:ext>
            </a:extLst>
          </p:cNvPr>
          <p:cNvSpPr>
            <a:spLocks noGrp="1"/>
          </p:cNvSpPr>
          <p:nvPr/>
        </p:nvSpPr>
        <p:spPr>
          <a:xfrm>
            <a:off x="1104900" y="5543550"/>
            <a:ext cx="9982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Сначала назовите наблюдаемый факт. Затем объясните вывод.</a:t>
            </a:r>
          </a:p>
        </p:txBody>
      </p:sp>
    </p:spTree>
    <p:extLst>
      <p:ext uri="{BB962C8B-B14F-4D97-AF65-F5344CB8AC3E}">
        <p14:creationId xmlns:p14="http://schemas.microsoft.com/office/powerpoint/2010/main" val="1101020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81F89D-34CC-4D09-B446-3393B231CD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Разбор 1. Синтаксическая ошибка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136B59-CEA5-4ACD-841F-061D61DC91BE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B6EB62-BFAD-4BED-840B-5A1A741BFD9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3143250" cy="381000"/>
          </a:xfrm>
          <a:prstGeom prst="roundRect">
            <a:avLst>
              <a:gd name="adj" fmla="val 45000"/>
            </a:avLst>
          </a:prstGeom>
          <a:solidFill>
            <a:srgbClr val="F5DDDD"/>
          </a:solidFill>
          <a:ln w="11430">
            <a:solidFill>
              <a:srgbClr val="C84C4C"/>
            </a:solidFill>
          </a:ln>
        </p:spPr>
        <p:txBody>
          <a:bodyPr wrap="square" lIns="95250" tIns="38100" rIns="95250" bIns="38100" anchor="ctr">
            <a:normAutofit fontScale="92643" lnSpcReduction="10000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Выполнение не началось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54CCB-098C-4B83-8272-A396AC9EC57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953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Среда обнаружила незавершённую запись до вычислений.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224C52-B3AD-42CB-9C97-13C8E8602AC9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6400800" cy="2133600"/>
          </a:xfrm>
          <a:prstGeom prst="roundRect">
            <a:avLst>
              <a:gd name="adj" fmla="val 7143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perimeter = 2 * (length + width)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print(perimeter)</a:t>
            </a:r>
          </a:p>
          <a:p>
            <a:endParaRPr sz="1875" b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результат после запуска: 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89ABED-355B-41BB-A89F-7C04702B57E1}"/>
              </a:ext>
            </a:extLst>
          </p:cNvPr>
          <p:cNvSpPr>
            <a:spLocks noGrp="1"/>
          </p:cNvSpPr>
          <p:nvPr/>
        </p:nvSpPr>
        <p:spPr>
          <a:xfrm>
            <a:off x="7791450" y="127635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Что проверили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7D10A3-CE76-4618-993D-D0CFEBC053F1}"/>
              </a:ext>
            </a:extLst>
          </p:cNvPr>
          <p:cNvSpPr>
            <a:spLocks noGrp="1"/>
          </p:cNvSpPr>
          <p:nvPr/>
        </p:nvSpPr>
        <p:spPr>
          <a:xfrm>
            <a:off x="7791450" y="17907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Сообщение и строку рядом с ним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308BCC-BF73-4F16-B1A3-EEE677BE2046}"/>
              </a:ext>
            </a:extLst>
          </p:cNvPr>
          <p:cNvSpPr>
            <a:spLocks noGrp="1"/>
          </p:cNvSpPr>
          <p:nvPr/>
        </p:nvSpPr>
        <p:spPr>
          <a:xfrm>
            <a:off x="7791450" y="27813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Что нашли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7AA1-4A3F-4639-8850-F7E1CD76F2A5}"/>
              </a:ext>
            </a:extLst>
          </p:cNvPr>
          <p:cNvSpPr>
            <a:spLocks noGrp="1"/>
          </p:cNvSpPr>
          <p:nvPr/>
        </p:nvSpPr>
        <p:spPr>
          <a:xfrm>
            <a:off x="7791450" y="32956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Не закрыта скобка после width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54A2EB-1283-4485-80FB-6E0A692BE3F7}"/>
              </a:ext>
            </a:extLst>
          </p:cNvPr>
          <p:cNvSpPr>
            <a:spLocks noGrp="1"/>
          </p:cNvSpPr>
          <p:nvPr/>
        </p:nvSpPr>
        <p:spPr>
          <a:xfrm>
            <a:off x="1466850" y="5543550"/>
            <a:ext cx="9258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Число 26 проверяем только после исправления записи и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555346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3F49AC-53F7-4807-9D7B-99B5E15328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Практика 2. Время в пути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AEB600-8D61-4AE2-B8E1-875470CC99C0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73AB7-1000-4AD8-A945-90275C73925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20748F-F92F-4370-89B1-A546CF4E9FB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896100" cy="3009900"/>
          </a:xfrm>
          <a:prstGeom prst="roundRect">
            <a:avLst>
              <a:gd name="adj" fmla="val 5063"/>
            </a:avLst>
          </a:prstGeom>
          <a:solidFill>
            <a:srgbClr val="172235"/>
          </a:solidFill>
          <a:ln w="19050">
            <a:solidFill>
              <a:srgbClr val="D96B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distance = "12 км"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speed = 60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time = distance / speed</a:t>
            </a:r>
          </a:p>
          <a:p>
            <a:endParaRPr sz="1875" b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Текст нельзя разделить на число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A61DF-6DD8-44DE-94F7-762F8A651486}"/>
              </a:ext>
            </a:extLst>
          </p:cNvPr>
          <p:cNvSpPr>
            <a:spLocks noGrp="1"/>
          </p:cNvSpPr>
          <p:nvPr/>
        </p:nvSpPr>
        <p:spPr>
          <a:xfrm>
            <a:off x="8096250" y="12573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Ответьте по порядку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7FA691-F556-48EE-A3DD-FB427C277B6B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33375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1. Началось ли выполнение?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2. Где оно остановилось?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3. Какое значение проверить?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4. Какой это вид ошибки?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49DF43-0720-411F-85B6-E3ADAE4B7DBD}"/>
              </a:ext>
            </a:extLst>
          </p:cNvPr>
          <p:cNvSpPr>
            <a:spLocks noGrp="1"/>
          </p:cNvSpPr>
          <p:nvPr/>
        </p:nvSpPr>
        <p:spPr>
          <a:xfrm>
            <a:off x="952500" y="5543550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Опирайтесь на последнее действие и фактически полученное 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509063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E7182D-C25E-41C5-A837-C8D9C31787C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Разбор 2. Ошибка времени выполнения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A4CE65-EF59-48BF-87DA-2F0DABF9CF3A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FB499B-1487-4EF2-AB81-948B6F88C87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4191000" cy="381000"/>
          </a:xfrm>
          <a:prstGeom prst="roundRect">
            <a:avLst>
              <a:gd name="adj" fmla="val 45000"/>
            </a:avLst>
          </a:prstGeom>
          <a:solidFill>
            <a:srgbClr val="F8E5D8"/>
          </a:solidFill>
          <a:ln w="11430">
            <a:solidFill>
              <a:srgbClr val="D96B35"/>
            </a:solidFill>
          </a:ln>
        </p:spPr>
        <p:txBody>
          <a:bodyPr wrap="square" lIns="95250" tIns="38100" rIns="95250" bIns="38100" anchor="ctr">
            <a:normAutofit fontScale="92643" lnSpcReduction="10000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Выполнение началось и остановилось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6916A-F6ED-4804-BB52-46963C142F49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Место остановки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6F3031-314C-479A-A20F-2AA6836A806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334000" cy="1066800"/>
          </a:xfrm>
          <a:prstGeom prst="roundRect">
            <a:avLst>
              <a:gd name="adj" fmla="val 14286"/>
            </a:avLst>
          </a:prstGeom>
          <a:solidFill>
            <a:srgbClr val="172235"/>
          </a:solidFill>
          <a:ln w="19050">
            <a:solidFill>
              <a:srgbClr val="D96B3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time = distance / speed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ECDD4-9843-4BC8-833B-C5CE007A3A32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Фактическое значение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2426CC-9C59-4F49-A7E3-FFC03C09CC8D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5334000" cy="1066800"/>
          </a:xfrm>
          <a:prstGeom prst="roundRect">
            <a:avLst>
              <a:gd name="adj" fmla="val 14286"/>
            </a:avLst>
          </a:prstGeom>
          <a:solidFill>
            <a:srgbClr val="172235"/>
          </a:solidFill>
          <a:ln w="19050">
            <a:solidFill>
              <a:srgbClr val="C84C4C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distance = "12 км"   // текст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2703D9-741A-469B-B698-C22EFE44F492}"/>
              </a:ext>
            </a:extLst>
          </p:cNvPr>
          <p:cNvSpPr>
            <a:spLocks noGrp="1"/>
          </p:cNvSpPr>
          <p:nvPr/>
        </p:nvSpPr>
        <p:spPr>
          <a:xfrm>
            <a:off x="6762750" y="150495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Что исправить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1B346-BA5B-414B-A45E-F0AEA6B07EB9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4381500" cy="2933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068" lnSpcReduction="10000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1. Проверить точное содержимое distance.</a:t>
            </a:r>
          </a:p>
          <a:p>
            <a:endParaRPr sz="202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2. Отделить число от единицы измерения.</a:t>
            </a:r>
          </a:p>
          <a:p>
            <a:endParaRPr sz="202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3. Получить число 12.</a:t>
            </a:r>
          </a:p>
          <a:p>
            <a:endParaRPr sz="202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4. Только затем выполнить деление.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33089F-18BE-4563-BF25-D66AF14F69BC}"/>
              </a:ext>
            </a:extLst>
          </p:cNvPr>
          <p:cNvSpPr>
            <a:spLocks noGrp="1"/>
          </p:cNvSpPr>
          <p:nvPr/>
        </p:nvSpPr>
        <p:spPr>
          <a:xfrm>
            <a:off x="1257300" y="5753100"/>
            <a:ext cx="9677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6272"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Формула времени подходит. Операция не смогла обработать полученный текст.</a:t>
            </a:r>
          </a:p>
        </p:txBody>
      </p:sp>
    </p:spTree>
    <p:extLst>
      <p:ext uri="{BB962C8B-B14F-4D97-AF65-F5344CB8AC3E}">
        <p14:creationId xmlns:p14="http://schemas.microsoft.com/office/powerpoint/2010/main" val="825887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4DE0D2-965A-4D27-A9F9-2EE86E3FF5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Практика 3. Средний балл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73E6E2-975D-4609-B6E5-41D2ED4A7BBB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B4B4C-83BB-44E4-8678-45BB90B476E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6896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Программа завершилась без сообщения об ошибке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770135-763A-4F69-B439-EBAD860874A8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7239000" cy="3352800"/>
          </a:xfrm>
          <a:prstGeom prst="roundRect">
            <a:avLst>
              <a:gd name="adj" fmla="val 4545"/>
            </a:avLst>
          </a:prstGeom>
          <a:solidFill>
            <a:srgbClr val="172235"/>
          </a:solidFill>
          <a:ln w="19050">
            <a:solidFill>
              <a:srgbClr val="137F8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grade1 = 4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grade2 = 5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grade3 = 3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average = grade1 + grade2 + grade3 / 3</a:t>
            </a:r>
          </a:p>
          <a:p>
            <a:endParaRPr sz="1725" b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ожидалось: 4    получено: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0223B-4238-4418-BE1B-48752D472769}"/>
              </a:ext>
            </a:extLst>
          </p:cNvPr>
          <p:cNvSpPr>
            <a:spLocks noGrp="1"/>
          </p:cNvSpPr>
          <p:nvPr/>
        </p:nvSpPr>
        <p:spPr>
          <a:xfrm>
            <a:off x="8324850" y="12573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Ответьте по порядку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A84E45-883D-4881-981E-6FB13BDD4487}"/>
              </a:ext>
            </a:extLst>
          </p:cNvPr>
          <p:cNvSpPr>
            <a:spLocks noGrp="1"/>
          </p:cNvSpPr>
          <p:nvPr/>
        </p:nvSpPr>
        <p:spPr>
          <a:xfrm>
            <a:off x="8324850" y="1847850"/>
            <a:ext cx="314325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1. Как программа получила 10?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2. Где первое расхождение?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3. Где находится дефект?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4. Какой это вид ошибки?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79DB90-C437-4E0C-AC4C-FD08EC806427}"/>
              </a:ext>
            </a:extLst>
          </p:cNvPr>
          <p:cNvSpPr>
            <a:spLocks noGrp="1"/>
          </p:cNvSpPr>
          <p:nvPr/>
        </p:nvSpPr>
        <p:spPr>
          <a:xfrm>
            <a:off x="1238250" y="5619750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Разложите выражение на отдельные операции в порядке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270327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5EE2F7-3B0A-4122-8606-BDB85E8F459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Разбор 3. Логическая ошибка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F8C482-4503-4130-B649-74700318D55A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2B2A4-7345-443B-B6B9-9F7E06B345F2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Что вычислила программа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C5739F-F929-41E6-88B6-2BA13FE64ABF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1562100"/>
          </a:xfrm>
          <a:prstGeom prst="roundRect">
            <a:avLst>
              <a:gd name="adj" fmla="val 9756"/>
            </a:avLst>
          </a:prstGeom>
          <a:solidFill>
            <a:srgbClr val="172235"/>
          </a:solidFill>
          <a:ln w="19050">
            <a:solidFill>
              <a:srgbClr val="C84C4C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grade3 / 3 = 3 / 3 = 1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grade1 + grade2 + 1 = 4 + 5 + 1 =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EB5886-48A1-47F4-85B5-CB1FB709C47C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Как должно вычисляться среднее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112FA3-EF98-4A1F-A507-94D37C238016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562100"/>
          </a:xfrm>
          <a:prstGeom prst="roundRect">
            <a:avLst>
              <a:gd name="adj" fmla="val 9756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average = (grade1 + grade2 + grade3) / 3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average = (4 + 5 + 3) / 3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C1D41-1694-4FD7-B136-316ABF2805BF}"/>
              </a:ext>
            </a:extLst>
          </p:cNvPr>
          <p:cNvSpPr>
            <a:spLocks noGrp="1"/>
          </p:cNvSpPr>
          <p:nvPr/>
        </p:nvSpPr>
        <p:spPr>
          <a:xfrm>
            <a:off x="1676400" y="6172200"/>
            <a:ext cx="8839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Все операции допустимы. Дефект находится в группировке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155342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7902F1-83DD-4133-A155-E4E85B9F41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Практика 4. Стоимость доставки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925953-D391-432E-8DBA-2D3A46F0725A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4BFFB3-431B-46DA-928B-8BD9C795F09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Условие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57373-FA10-4CC3-931B-6412D5E6F57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2 кг по 200 ₽ за кг. Ожидаемая стоимость: 400 ₽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8436AC-A9E5-41C3-8BE6-BE98D54321AC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Фактический расчёт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A8A194-7B59-479E-AF38-C4AEB6505E1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6858000" cy="2247900"/>
          </a:xfrm>
          <a:prstGeom prst="roundRect">
            <a:avLst>
              <a:gd name="adj" fmla="val 6780"/>
            </a:avLst>
          </a:prstGeom>
          <a:solidFill>
            <a:srgbClr val="172235"/>
          </a:solidFill>
          <a:ln w="19050">
            <a:solidFill>
              <a:srgbClr val="137F85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>
              <a:lnSpc>
                <a:spcPct val="118000"/>
              </a:lnSpc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lang="ru-RU" sz="1875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Внешний аргумент </a:t>
            </a:r>
            <a:r>
              <a:rPr lang="en-US" sz="1875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rate_per_kg</a:t>
            </a:r>
            <a:r>
              <a:rPr lang="en-US" sz="1875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= 250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weight = 2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weight * </a:t>
            </a: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rate_per_kg</a:t>
            </a:r>
            <a:endParaRPr sz="1875" b="0" dirty="0">
              <a:solidFill>
                <a:srgbClr val="F4F7F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получено</a:t>
            </a:r>
            <a:r>
              <a:rPr sz="1875" b="0" dirty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: 500 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936E59-3B93-4DBF-9B23-91FA3B16749B}"/>
              </a:ext>
            </a:extLst>
          </p:cNvPr>
          <p:cNvSpPr>
            <a:spLocks noGrp="1"/>
          </p:cNvSpPr>
          <p:nvPr/>
        </p:nvSpPr>
        <p:spPr>
          <a:xfrm>
            <a:off x="8096250" y="12573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Ответьте по порядку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F5A1A3-B2CA-43ED-B43C-CBF482B75D61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333375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1. Верно ли умножение?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6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2. Доказывает ли 500 ошибку формулы?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6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3. Что проверить первым?</a:t>
            </a:r>
          </a:p>
          <a:p>
            <a:endParaRPr sz="1875" b="1">
              <a:solidFill>
                <a:srgbClr val="15233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6000"/>
              </a:lnSpc>
              <a:buNone/>
              <a:defRPr sz="18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4. К какому случаю относится проблема?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562B58-2BF3-421F-8F93-D7F8D8AEF781}"/>
              </a:ext>
            </a:extLst>
          </p:cNvPr>
          <p:cNvSpPr>
            <a:spLocks noGrp="1"/>
          </p:cNvSpPr>
          <p:nvPr/>
        </p:nvSpPr>
        <p:spPr>
          <a:xfrm>
            <a:off x="1238250" y="5676900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Сравните условие, фактические входы и полученный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869961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24514-4458-4AC9-A409-B9CA37A1021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Разбор 4. Неверные входные данные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8D969-9BA3-44E5-BD9D-A2D91A68E21C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0FE63B-A7A9-4EB3-B7E9-B7CEF63D11E4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Формула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3CDB47-06C6-47BD-AF3D-3DD26F311BDC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1028700"/>
          </a:xfrm>
          <a:prstGeom prst="roundRect">
            <a:avLst>
              <a:gd name="adj" fmla="val 14815"/>
            </a:avLst>
          </a:prstGeom>
          <a:solidFill>
            <a:srgbClr val="172235"/>
          </a:solidFill>
          <a:ln w="19050">
            <a:solidFill>
              <a:srgbClr val="357A50"/>
            </a:solidFill>
          </a:ln>
        </p:spPr>
        <p:txBody>
          <a:bodyPr wrap="square" lIns="228600" tIns="190500" rIns="228600" bIns="19050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total = weight * rate_per_kg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520E0-BA49-4F6D-ADDF-4582D5CC93F2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Фактически получено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83508-3532-4A2D-B6B3-4EBD36244144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4000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2 × 250 = 500 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519810-43BD-42DF-AD8D-CBB9FEB63281}"/>
              </a:ext>
            </a:extLst>
          </p:cNvPr>
          <p:cNvSpPr>
            <a:spLocks noGrp="1"/>
          </p:cNvSpPr>
          <p:nvPr/>
        </p:nvSpPr>
        <p:spPr>
          <a:xfrm>
            <a:off x="7124700" y="34290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Требовалось по условию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4B1AE-2B70-4F23-83D9-2704499B8C03}"/>
              </a:ext>
            </a:extLst>
          </p:cNvPr>
          <p:cNvSpPr>
            <a:spLocks noGrp="1"/>
          </p:cNvSpPr>
          <p:nvPr/>
        </p:nvSpPr>
        <p:spPr>
          <a:xfrm>
            <a:off x="7124700" y="4000500"/>
            <a:ext cx="4000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2 × 200 = 400 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94208-1676-4AA5-A9BF-89CE76EE1041}"/>
              </a:ext>
            </a:extLst>
          </p:cNvPr>
          <p:cNvSpPr>
            <a:spLocks noGrp="1"/>
          </p:cNvSpPr>
          <p:nvPr/>
        </p:nvSpPr>
        <p:spPr>
          <a:xfrm>
            <a:off x="1047750" y="5448300"/>
            <a:ext cx="1009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Первое действие: найти источник тарифа 250 и проверить, почему программа получила именно его.</a:t>
            </a:r>
          </a:p>
        </p:txBody>
      </p:sp>
    </p:spTree>
    <p:extLst>
      <p:ext uri="{BB962C8B-B14F-4D97-AF65-F5344CB8AC3E}">
        <p14:creationId xmlns:p14="http://schemas.microsoft.com/office/powerpoint/2010/main" val="742084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8FB6B8-91CA-4A9C-AC0E-18D51682C81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Что проверять первым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BED3FF-D234-4A72-B9E6-38B83966FD37}"/>
              </a:ext>
            </a:extLst>
          </p:cNvPr>
          <p:cNvSpPr>
            <a:spLocks noGrp="1"/>
          </p:cNvSpPr>
          <p:nvPr/>
        </p:nvSpPr>
        <p:spPr>
          <a:xfrm>
            <a:off x="112585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0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A6676"/>
                </a:solidFill>
                <a:latin typeface="Arial"/>
                <a:ea typeface="Arial"/>
                <a:cs typeface="Arial"/>
              </a:rPr>
              <a:t>25</a:t>
            </a:r>
            <a:endParaRPr sz="1350" b="0">
              <a:solidFill>
                <a:srgbClr val="5A66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9FFBA-A16C-4A6E-B37C-2DC61F067CFC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095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6200" rIns="114300" bIns="762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Программа не запускается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E07BB5-1BF2-493C-91E5-F3E3977AA0B5}"/>
              </a:ext>
            </a:extLst>
          </p:cNvPr>
          <p:cNvSpPr>
            <a:spLocks noGrp="1"/>
          </p:cNvSpPr>
          <p:nvPr/>
        </p:nvSpPr>
        <p:spPr>
          <a:xfrm>
            <a:off x="4953000" y="1238250"/>
            <a:ext cx="6477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1430">
            <a:solidFill>
              <a:srgbClr val="CDD4DC"/>
            </a:solidFill>
          </a:ln>
        </p:spPr>
        <p:txBody>
          <a:bodyPr wrap="square" lIns="190500" tIns="95250" rIns="190500" bIns="952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Сообщение и запись рядом с ним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35985-9C0A-4CBB-9C84-8BCD65E74463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4095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6200" rIns="114300" bIns="762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D96B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B35"/>
                </a:solidFill>
                <a:latin typeface="Arial"/>
                <a:ea typeface="Arial"/>
                <a:cs typeface="Arial"/>
              </a:rPr>
              <a:t>Выполнение остановилось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CD0AB2-9D61-4DE0-B683-E2D841B372DD}"/>
              </a:ext>
            </a:extLst>
          </p:cNvPr>
          <p:cNvSpPr>
            <a:spLocks noGrp="1"/>
          </p:cNvSpPr>
          <p:nvPr/>
        </p:nvSpPr>
        <p:spPr>
          <a:xfrm>
            <a:off x="4953000" y="2343150"/>
            <a:ext cx="6477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1430">
            <a:solidFill>
              <a:srgbClr val="CDD4DC"/>
            </a:solidFill>
          </a:ln>
        </p:spPr>
        <p:txBody>
          <a:bodyPr wrap="square" lIns="190500" tIns="95250" rIns="190500" bIns="952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Последнее действие, значение и тип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2592EA-F059-4339-9EC8-FD0740DE56E9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4095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6200" rIns="114300" bIns="762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Получен неверный результат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62B12B-EDB9-49D4-86A4-FE21E22E4E03}"/>
              </a:ext>
            </a:extLst>
          </p:cNvPr>
          <p:cNvSpPr>
            <a:spLocks noGrp="1"/>
          </p:cNvSpPr>
          <p:nvPr/>
        </p:nvSpPr>
        <p:spPr>
          <a:xfrm>
            <a:off x="4953000" y="3448050"/>
            <a:ext cx="6477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1430">
            <a:solidFill>
              <a:srgbClr val="CDD4DC"/>
            </a:solidFill>
          </a:ln>
        </p:spPr>
        <p:txBody>
          <a:bodyPr wrap="square" lIns="190500" tIns="95250" rIns="190500" bIns="95250" anchor="ctr">
            <a:normAutofit fontScale="83980" lnSpcReduction="10000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Промежуточные значения до первого расхождения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3DD35B-34C8-4E66-8625-D717F190A994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095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6200" rIns="114300" bIns="76200" anchor="ctr">
            <a:normAutofit fontScale="8762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57A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A50"/>
                </a:solidFill>
                <a:latin typeface="Arial"/>
                <a:ea typeface="Arial"/>
                <a:cs typeface="Arial"/>
              </a:rPr>
              <a:t>Формула верна, итог неверный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E7DFB6-C203-456E-B2F9-4A9BBDACBC31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6477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1430">
            <a:solidFill>
              <a:srgbClr val="CDD4DC"/>
            </a:solidFill>
          </a:ln>
        </p:spPr>
        <p:txBody>
          <a:bodyPr wrap="square" lIns="190500" tIns="95250" rIns="190500" bIns="952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5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B"/>
                </a:solidFill>
                <a:latin typeface="Arial"/>
                <a:ea typeface="Arial"/>
                <a:cs typeface="Arial"/>
              </a:rPr>
              <a:t>Фактические входы и их источник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151A9-4CE4-4468-B8EA-88D5C1E66E95}"/>
              </a:ext>
            </a:extLst>
          </p:cNvPr>
          <p:cNvSpPr>
            <a:spLocks noGrp="1"/>
          </p:cNvSpPr>
          <p:nvPr/>
        </p:nvSpPr>
        <p:spPr>
          <a:xfrm>
            <a:off x="1600200" y="5848350"/>
            <a:ext cx="8991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400" b="1">
                <a:solidFill>
                  <a:srgbClr val="137F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F85"/>
                </a:solidFill>
                <a:latin typeface="Arial"/>
                <a:ea typeface="Arial"/>
                <a:cs typeface="Arial"/>
              </a:rPr>
              <a:t>Как именно проявляется фраза «не работает»?</a:t>
            </a:r>
          </a:p>
        </p:txBody>
      </p:sp>
    </p:spTree>
    <p:extLst>
      <p:ext uri="{BB962C8B-B14F-4D97-AF65-F5344CB8AC3E}">
        <p14:creationId xmlns:p14="http://schemas.microsoft.com/office/powerpoint/2010/main" val="18627193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1770</Words>
  <Application>Microsoft Office PowerPoint</Application>
  <DocSecurity>0</DocSecurity>
  <PresentationFormat>Widescreen</PresentationFormat>
  <Paragraphs>322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Araik Gukasyan</cp:lastModifiedBy>
  <cp:revision>3</cp:revision>
  <dcterms:created xsi:type="dcterms:W3CDTF">2026-09-13T09:52:56Z</dcterms:created>
  <dcterms:modified xsi:type="dcterms:W3CDTF">2026-09-14T00:46:55Z</dcterms:modified>
</cp:coreProperties>
</file>